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6"/>
  </p:notesMasterIdLst>
  <p:sldIdLst>
    <p:sldId id="283" r:id="rId2"/>
    <p:sldId id="257" r:id="rId3"/>
    <p:sldId id="282" r:id="rId4"/>
    <p:sldId id="284" r:id="rId5"/>
    <p:sldId id="285" r:id="rId6"/>
    <p:sldId id="281" r:id="rId7"/>
    <p:sldId id="279" r:id="rId8"/>
    <p:sldId id="262" r:id="rId9"/>
    <p:sldId id="264" r:id="rId10"/>
    <p:sldId id="278" r:id="rId11"/>
    <p:sldId id="286" r:id="rId12"/>
    <p:sldId id="277" r:id="rId13"/>
    <p:sldId id="280" r:id="rId14"/>
    <p:sldId id="276" r:id="rId15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7" roundtripDataSignature="AMtx7mjt3491jQ7aCoyIz2WXeHKroE7tp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AAD8F4D-43EB-41E5-8A38-28AB6DFB1B60}">
  <a:tblStyle styleId="{0AAD8F4D-43EB-41E5-8A38-28AB6DFB1B6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86"/>
  </p:normalViewPr>
  <p:slideViewPr>
    <p:cSldViewPr snapToGrid="0">
      <p:cViewPr varScale="1">
        <p:scale>
          <a:sx n="70" d="100"/>
          <a:sy n="70" d="100"/>
        </p:scale>
        <p:origin x="51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7" Type="http://customschemas.google.com/relationships/presentationmetadata" Target="meta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48C2B95B-FB15-C156-6AF1-35B358181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770A13E9-BC77-63DA-E106-A3FA802281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29067B0F-2F4F-7081-A661-0AE31BFBB7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055410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20A8E369-C804-D8D2-383B-03E8A5478F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168FC73D-F867-8E13-0025-1B40818921D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449581B4-9B47-7782-B749-078618A6E57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051513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E37D20EF-0791-5303-F96E-0F0C1B50B7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9DCBA8EB-6D71-7B5E-841C-4BFFBDA5F1B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5C2CD162-5BE5-06C8-E06C-B4A49D4BCFF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313540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>
          <a:extLst>
            <a:ext uri="{FF2B5EF4-FFF2-40B4-BE49-F238E27FC236}">
              <a16:creationId xmlns:a16="http://schemas.microsoft.com/office/drawing/2014/main" id="{59B870D7-ED5B-C7CD-FB99-2991954CAA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:notes">
            <a:extLst>
              <a:ext uri="{FF2B5EF4-FFF2-40B4-BE49-F238E27FC236}">
                <a16:creationId xmlns:a16="http://schemas.microsoft.com/office/drawing/2014/main" id="{C8B270BB-F67C-52E3-249C-6FE0C237CA9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5:notes">
            <a:extLst>
              <a:ext uri="{FF2B5EF4-FFF2-40B4-BE49-F238E27FC236}">
                <a16:creationId xmlns:a16="http://schemas.microsoft.com/office/drawing/2014/main" id="{151B863E-6240-36E9-EB23-2DAA667D251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798578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279463AA-D7FA-5F7E-C4D0-06BDEDCBB9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A84E3171-2C5C-8738-5718-5608CE1B13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E16E406D-2512-5EF2-0167-6C895346954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349666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11626E4B-E119-2382-6F8F-518641144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>
            <a:extLst>
              <a:ext uri="{FF2B5EF4-FFF2-40B4-BE49-F238E27FC236}">
                <a16:creationId xmlns:a16="http://schemas.microsoft.com/office/drawing/2014/main" id="{01A6FF9F-971F-6CD8-61F5-25638A5985F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:notes">
            <a:extLst>
              <a:ext uri="{FF2B5EF4-FFF2-40B4-BE49-F238E27FC236}">
                <a16:creationId xmlns:a16="http://schemas.microsoft.com/office/drawing/2014/main" id="{C8EB5C80-6A4B-AE05-9BE0-03B5AF5C22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8273657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C2F88CF5-D0C3-0228-6C1A-E849738B9B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>
            <a:extLst>
              <a:ext uri="{FF2B5EF4-FFF2-40B4-BE49-F238E27FC236}">
                <a16:creationId xmlns:a16="http://schemas.microsoft.com/office/drawing/2014/main" id="{15C41DBA-EB5E-9EB1-28D2-68EF3081A2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:notes">
            <a:extLst>
              <a:ext uri="{FF2B5EF4-FFF2-40B4-BE49-F238E27FC236}">
                <a16:creationId xmlns:a16="http://schemas.microsoft.com/office/drawing/2014/main" id="{9AACA92E-BC74-25E5-B8D5-2E658F81C2F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5758711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FB18EFA4-CD13-16C4-504B-6DB7E86CE0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E8E16183-6BFA-E60A-1235-F3BFB1B1F6E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C4420B06-3455-3F20-5E28-90535F24DA2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6517532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466C47D1-19F6-52AF-3914-DD3C99058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ACA1F779-4C2B-4CD1-FBDD-A40F0A3223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40004D30-6E86-E263-D5DA-7577B1C759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2216939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2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2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2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2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2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97BF8-B3EC-77A2-9BFD-D66830272D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6600" b="1" dirty="0"/>
              <a:t>PS40 - AI-Powered Network Intrusion Detection System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AB85A1-2169-FF43-3E91-E2E8ADA742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14730" y="3903663"/>
            <a:ext cx="10515600" cy="1500187"/>
          </a:xfrm>
        </p:spPr>
        <p:txBody>
          <a:bodyPr/>
          <a:lstStyle/>
          <a:p>
            <a:pPr algn="ctr"/>
            <a:r>
              <a:rPr lang="en-US" b="1" i="1" dirty="0"/>
              <a:t>IBM AICTE Internship Project</a:t>
            </a:r>
            <a:r>
              <a:rPr lang="en-US" b="1" i="1" dirty="0" err="1"/>
              <a:t>Sabarish R</a:t>
            </a:r>
            <a:r>
              <a:rPr lang="en-US" b="1" i="1" dirty="0"/>
              <a:t>B.Tech CSBS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575646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/>
          <p:nvPr/>
        </p:nvSpPr>
        <p:spPr>
          <a:xfrm>
            <a:off x="690624" y="4425370"/>
            <a:ext cx="10795794" cy="199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endParaRPr sz="15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5" name="Google Shape;95;p2"/>
          <p:cNvSpPr txBox="1"/>
          <p:nvPr/>
        </p:nvSpPr>
        <p:spPr>
          <a:xfrm>
            <a:off x="1102321" y="1174639"/>
            <a:ext cx="7426406" cy="451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Times New Roman"/>
              <a:buNone/>
            </a:pPr>
            <a:endParaRPr sz="3200" b="1" i="0" u="none" strike="noStrike" cap="none" dirty="0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96" name="Google Shape;96;p2"/>
          <p:cNvGraphicFramePr/>
          <p:nvPr>
            <p:extLst>
              <p:ext uri="{D42A27DB-BD31-4B8C-83A1-F6EECF244321}">
                <p14:modId xmlns:p14="http://schemas.microsoft.com/office/powerpoint/2010/main" val="2897107072"/>
              </p:ext>
            </p:extLst>
          </p:nvPr>
        </p:nvGraphicFramePr>
        <p:xfrm>
          <a:off x="1299257" y="2600315"/>
          <a:ext cx="9394989" cy="2167128"/>
        </p:xfrm>
        <a:graphic>
          <a:graphicData uri="http://schemas.openxmlformats.org/drawingml/2006/table">
            <a:tbl>
              <a:tblPr>
                <a:noFill/>
                <a:tableStyleId>{0AAD8F4D-43EB-41E5-8A38-28AB6DFB1B60}</a:tableStyleId>
              </a:tblPr>
              <a:tblGrid>
                <a:gridCol w="20648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433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433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4337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973237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Student Profile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Sabarish R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sabarish.edu2024@gmail.com</a:t>
                      </a:r>
                      <a:endParaRPr sz="1800" b="0" i="0" u="none" strike="noStrike" cap="none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B.Tech CSBS</a:t>
                      </a:r>
                      <a:endParaRPr sz="1800" b="0" i="0" u="none" strike="noStrike" cap="none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2nd Year, 4th Semester</a:t>
                      </a:r>
                      <a:endParaRPr sz="1800" b="0" i="0" u="none" strike="noStrike" cap="none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93891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98" name="Google Shape;98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053024" y="3738417"/>
            <a:ext cx="762500" cy="801811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828B9EF-C084-F5D4-CA27-75AF7D995640}"/>
              </a:ext>
            </a:extLst>
          </p:cNvPr>
          <p:cNvSpPr txBox="1"/>
          <p:nvPr/>
        </p:nvSpPr>
        <p:spPr>
          <a:xfrm>
            <a:off x="1206164" y="1460724"/>
            <a:ext cx="102802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Add mobile number and college name</a:t>
            </a:r>
            <a:r>
              <a:rPr lang="en-US" sz="2400" b="1" dirty="0">
                <a:highlight>
                  <a:srgbClr val="FFFF00"/>
                </a:highlight>
              </a:rPr>
              <a:t/>
            </a:r>
            <a:endParaRPr lang="en-IN" sz="2400" b="1" dirty="0">
              <a:highlight>
                <a:srgbClr val="FFFF00"/>
              </a:highlight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723CA3-EC2D-165A-F109-3759C4E9C8A4}"/>
              </a:ext>
            </a:extLst>
          </p:cNvPr>
          <p:cNvSpPr txBox="1"/>
          <p:nvPr/>
        </p:nvSpPr>
        <p:spPr>
          <a:xfrm>
            <a:off x="1206162" y="551965"/>
            <a:ext cx="95811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/>
            </a:r>
            <a:r>
              <a:rPr lang="en-US" sz="2400" b="1" dirty="0">
                <a:highlight>
                  <a:srgbClr val="FFFF00"/>
                </a:highlight>
              </a:rPr>
              <a:t/>
            </a:r>
            <a:r>
              <a:rPr lang="en-US" sz="2400" b="1" dirty="0">
                <a:solidFill>
                  <a:srgbClr val="002060"/>
                </a:solidFill>
                <a:highlight>
                  <a:srgbClr val="FFFF00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/>
            </a:r>
            <a:r>
              <a:rPr lang="en-US" sz="2400" b="1" dirty="0">
                <a:highlight>
                  <a:srgbClr val="FFFF00"/>
                </a:highlight>
              </a:rPr>
              <a:t/>
            </a:r>
            <a:endParaRPr lang="en-IN" sz="2400" b="1" dirty="0">
              <a:highlight>
                <a:srgbClr val="FFFF00"/>
              </a:highlight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F4C0A7C6-2888-EA53-35AB-4072E6B1F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6F6745E-14BA-0766-CE1E-32E29663832D}"/>
              </a:ext>
            </a:extLst>
          </p:cNvPr>
          <p:cNvSpPr txBox="1"/>
          <p:nvPr/>
        </p:nvSpPr>
        <p:spPr>
          <a:xfrm>
            <a:off x="576072" y="1234440"/>
            <a:ext cx="10607040" cy="50475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n-US" b="1" dirty="0"/>
              <a:t>Problem Statement - PS40</a:t>
            </a:r>
            <a:r>
              <a:rPr lang="en-US" dirty="0"/>
              <a:t>Detect intrusion patterns in network connection records</a:t>
            </a:r>
          </a:p>
          <a:p>
            <a:pPr fontAlgn="base"/>
            <a:endParaRPr lang="en-US" b="1" dirty="0"/>
          </a:p>
          <a:p>
            <a:pPr fontAlgn="base"/>
            <a:r>
              <a:rPr lang="en-US" b="1" dirty="0"/>
              <a:t>Classify traffic as normal or anomaly</a:t>
            </a:r>
            <a:r>
              <a:rPr lang="en-US" dirty="0"/>
              <a:t>Support security monitoring with actionable output</a:t>
            </a:r>
          </a:p>
          <a:p>
            <a:pPr fontAlgn="base"/>
            <a:r>
              <a:rPr lang="en-US" dirty="0"/>
              <a:t/>
            </a:r>
            <a:r>
              <a:rPr lang="en-US" b="1" dirty="0"/>
              <a:t/>
            </a:r>
            <a:r>
              <a:rPr lang="en-US" dirty="0"/>
              <a:t/>
            </a:r>
            <a:r>
              <a:rPr lang="en-US" b="1" dirty="0"/>
              <a:t/>
            </a:r>
            <a:r>
              <a:rPr lang="en-US" dirty="0"/>
              <a:t/>
            </a:r>
          </a:p>
          <a:p>
            <a:pPr fontAlgn="base"/>
            <a:endParaRPr lang="en-US" dirty="0"/>
          </a:p>
          <a:p>
            <a:pPr fontAlgn="base"/>
            <a:r>
              <a:rPr lang="en-US" b="1" dirty="0"/>
              <a:t/>
            </a:r>
            <a:r>
              <a:rPr lang="en-US" dirty="0"/>
              <a:t/>
            </a:r>
          </a:p>
          <a:p>
            <a:pPr fontAlgn="base"/>
            <a:r>
              <a:rPr lang="en-US" dirty="0"/>
              <a:t/>
            </a:r>
            <a:r>
              <a:rPr lang="en-US" b="1" dirty="0"/>
              <a:t/>
            </a:r>
            <a:r>
              <a:rPr lang="en-US" dirty="0"/>
              <a:t/>
            </a:r>
            <a:r>
              <a:rPr lang="en-US" b="1" dirty="0"/>
              <a:t/>
            </a:r>
            <a:r>
              <a:rPr lang="en-US" dirty="0"/>
              <a:t/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b="1" dirty="0"/>
              <a:t/>
            </a:r>
            <a:r>
              <a:rPr lang="en-US" dirty="0"/>
              <a:t/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b="1" dirty="0"/>
              <a:t/>
            </a:r>
            <a:r>
              <a:rPr lang="en-US" dirty="0"/>
              <a:t/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b="1" dirty="0"/>
              <a:t/>
            </a:r>
            <a:r>
              <a:rPr lang="en-US" dirty="0"/>
              <a:t/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b="1" dirty="0"/>
              <a:t/>
            </a:r>
            <a:r>
              <a:rPr lang="en-US" dirty="0"/>
              <a:t/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b="1" dirty="0"/>
              <a:t/>
            </a:r>
            <a:r>
              <a:rPr lang="en-US" dirty="0"/>
              <a:t/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b="1" dirty="0"/>
              <a:t/>
            </a:r>
            <a:r>
              <a:rPr lang="en-US" dirty="0"/>
              <a:t/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b="1" dirty="0"/>
              <a:t/>
            </a:r>
            <a:r>
              <a:rPr lang="en-US" dirty="0"/>
              <a:t/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b="1" dirty="0"/>
              <a:t/>
            </a:r>
            <a:r>
              <a:rPr lang="en-US" dirty="0"/>
              <a:t/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b="1" dirty="0"/>
              <a:t/>
            </a:r>
            <a:r>
              <a:rPr lang="en-US" dirty="0"/>
              <a:t/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b="1" dirty="0"/>
              <a:t/>
            </a:r>
            <a:r>
              <a:rPr lang="en-US" dirty="0"/>
              <a:t/>
            </a:r>
          </a:p>
          <a:p>
            <a:pPr fontAlgn="base"/>
            <a:endParaRPr lang="en-US" dirty="0"/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47FA31-EA47-D27A-9D69-AF50A3080AEC}"/>
              </a:ext>
            </a:extLst>
          </p:cNvPr>
          <p:cNvSpPr txBox="1"/>
          <p:nvPr/>
        </p:nvSpPr>
        <p:spPr>
          <a:xfrm>
            <a:off x="576072" y="704088"/>
            <a:ext cx="72146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/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29525842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6A77E81F-021A-57FB-C709-7E70756491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7CFCB91-EF22-EB8C-5B0D-4D46021F0245}"/>
              </a:ext>
            </a:extLst>
          </p:cNvPr>
          <p:cNvSpPr txBox="1"/>
          <p:nvPr/>
        </p:nvSpPr>
        <p:spPr>
          <a:xfrm>
            <a:off x="667512" y="1165753"/>
            <a:ext cx="10607040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endParaRPr lang="en-US" b="1" dirty="0"/>
          </a:p>
          <a:p>
            <a:pPr fontAlgn="base"/>
            <a:r>
              <a:rPr lang="en-IN" b="1" dirty="0"/>
              <a:t>Proposed Solution</a:t>
            </a:r>
            <a:r>
              <a:rPr lang="en-IN" dirty="0"/>
              <a:t>Modular ML pipeline</a:t>
            </a:r>
          </a:p>
          <a:p>
            <a:pPr fontAlgn="base"/>
            <a:r>
              <a:rPr lang="en-IN" dirty="0"/>
              <a:t>Validation-driven model selection</a:t>
            </a:r>
            <a:r>
              <a:rPr lang="en-IN" b="1" dirty="0"/>
              <a:t>Inference on unlabeled test data</a:t>
            </a:r>
            <a:r>
              <a:rPr lang="en-IN" dirty="0"/>
              <a:t>Exportable predictions and metrics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IN" dirty="0" err="1"/>
              <a:t/>
            </a:r>
            <a:r>
              <a:rPr lang="en-IN" dirty="0"/>
              <a:t/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IN" dirty="0"/>
              <a:t/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IN" dirty="0"/>
              <a:t/>
            </a:r>
            <a:r>
              <a:rPr lang="en-IN" dirty="0" err="1"/>
              <a:t/>
            </a:r>
            <a:r>
              <a:rPr lang="en-IN" dirty="0"/>
              <a:t/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endParaRPr lang="en-IN" dirty="0"/>
          </a:p>
          <a:p>
            <a:pPr fontAlgn="base"/>
            <a:r>
              <a:rPr lang="en-IN" dirty="0"/>
              <a:t/>
            </a:r>
            <a:r>
              <a:rPr lang="en-IN" dirty="0" err="1">
                <a:highlight>
                  <a:srgbClr val="FFFF00"/>
                </a:highlight>
              </a:rPr>
              <a:t/>
            </a:r>
            <a:r>
              <a:rPr lang="en-IN" dirty="0">
                <a:highlight>
                  <a:srgbClr val="FFFF00"/>
                </a:highlight>
              </a:rPr>
              <a:t/>
            </a:r>
          </a:p>
          <a:p>
            <a:pPr fontAlgn="base"/>
            <a:endParaRPr lang="en-IN" dirty="0"/>
          </a:p>
          <a:p>
            <a:pPr marL="285750" indent="-285750" fontAlgn="base">
              <a:buFont typeface="Arial" panose="020B0604020202020204" pitchFamily="34" charset="0"/>
              <a:buChar char="•"/>
            </a:pPr>
            <a:endParaRPr lang="en-IN" dirty="0"/>
          </a:p>
          <a:p>
            <a:pPr fontAlgn="base"/>
            <a:endParaRPr lang="en-IN" dirty="0"/>
          </a:p>
          <a:p>
            <a:pPr fontAlgn="base"/>
            <a:endParaRPr lang="en-US" dirty="0"/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BD926A1-0833-2949-651F-2AAB4D91A8C9}"/>
              </a:ext>
            </a:extLst>
          </p:cNvPr>
          <p:cNvSpPr txBox="1"/>
          <p:nvPr/>
        </p:nvSpPr>
        <p:spPr>
          <a:xfrm>
            <a:off x="576072" y="704088"/>
            <a:ext cx="72146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/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42184672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0471B467-61AA-7BCA-460D-43041E805F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A1BF701-ABCA-4DF0-8330-B6AF71EF8E39}"/>
              </a:ext>
            </a:extLst>
          </p:cNvPr>
          <p:cNvSpPr txBox="1"/>
          <p:nvPr/>
        </p:nvSpPr>
        <p:spPr>
          <a:xfrm>
            <a:off x="576072" y="1234440"/>
            <a:ext cx="1060704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endParaRPr lang="en-US" b="1" dirty="0"/>
          </a:p>
          <a:p>
            <a:r>
              <a:rPr lang="en-US" b="1" dirty="0"/>
              <a:t>Tech Stack</a:t>
            </a:r>
          </a:p>
          <a:p>
            <a:r>
              <a:rPr lang="en-US" dirty="0"/>
              <a:t>Python</a:t>
            </a:r>
            <a:r>
              <a:rPr lang="en-US" b="1" dirty="0"/>
              <a:t>pandas and numpy</a:t>
            </a:r>
            <a:r>
              <a:rPr lang="en-US" dirty="0"/>
              <a:t>scikit-learn</a:t>
            </a:r>
            <a:r>
              <a:rPr lang="en-US" b="1" dirty="0" err="1"/>
              <a:t>matplotlib</a:t>
            </a:r>
            <a:r>
              <a:rPr lang="en-US" b="1" dirty="0"/>
              <a:t>Streamlit</a:t>
            </a:r>
            <a:r>
              <a:rPr lang="en-US" dirty="0"/>
              <a:t>Joblib</a:t>
            </a:r>
          </a:p>
          <a:p>
            <a:r>
              <a:rPr lang="en-US" dirty="0"/>
              <a:t/>
            </a:r>
            <a:r>
              <a:rPr lang="en-US" b="1" dirty="0"/>
              <a:t/>
            </a:r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b="1" dirty="0"/>
              <a:t/>
            </a:r>
            <a:r>
              <a:rPr lang="en-US" dirty="0"/>
              <a:t/>
            </a:r>
          </a:p>
          <a:p>
            <a:r>
              <a:rPr lang="en-US" b="1" dirty="0"/>
              <a:t/>
            </a:r>
            <a:r>
              <a:rPr lang="en-US" dirty="0"/>
              <a:t/>
            </a:r>
          </a:p>
          <a:p>
            <a:r>
              <a:rPr lang="en-US" b="1" dirty="0"/>
              <a:t/>
            </a:r>
            <a:r>
              <a:rPr lang="en-US" dirty="0"/>
              <a:t/>
            </a:r>
          </a:p>
          <a:p>
            <a:r>
              <a:rPr lang="en-US" b="1" dirty="0"/>
              <a:t/>
            </a:r>
            <a:r>
              <a:rPr lang="en-US" dirty="0"/>
              <a:t/>
            </a:r>
          </a:p>
          <a:p>
            <a:r>
              <a:rPr lang="en-US" dirty="0"/>
              <a:t/>
            </a:r>
            <a:r>
              <a:rPr lang="en-US" b="1" dirty="0"/>
              <a:t/>
            </a:r>
            <a:r>
              <a:rPr lang="en-US" dirty="0"/>
              <a:t/>
            </a:r>
            <a:r>
              <a:rPr lang="en-US" dirty="0" err="1"/>
              <a:t/>
            </a:r>
            <a:r>
              <a:rPr lang="en-US" dirty="0"/>
              <a:t/>
            </a:r>
          </a:p>
          <a:p>
            <a:r>
              <a:rPr lang="en-US" dirty="0" err="1"/>
              <a:t/>
            </a:r>
            <a:r>
              <a:rPr lang="en-US" dirty="0"/>
              <a:t/>
            </a:r>
          </a:p>
          <a:p>
            <a:r>
              <a:rPr lang="en-US" dirty="0"/>
              <a:t/>
            </a:r>
            <a:r>
              <a:rPr lang="en-US" b="1" dirty="0"/>
              <a:t/>
            </a:r>
            <a:r>
              <a:rPr lang="en-US" dirty="0"/>
              <a:t/>
            </a:r>
          </a:p>
          <a:p>
            <a:pPr fontAlgn="base"/>
            <a:endParaRPr lang="en-US" dirty="0"/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7F30CC-07EF-8FCC-DA00-C9212F5DAECE}"/>
              </a:ext>
            </a:extLst>
          </p:cNvPr>
          <p:cNvSpPr txBox="1"/>
          <p:nvPr/>
        </p:nvSpPr>
        <p:spPr>
          <a:xfrm>
            <a:off x="576072" y="704088"/>
            <a:ext cx="72146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/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22902949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>
          <a:extLst>
            <a:ext uri="{FF2B5EF4-FFF2-40B4-BE49-F238E27FC236}">
              <a16:creationId xmlns:a16="http://schemas.microsoft.com/office/drawing/2014/main" id="{CDF2A78E-5A0E-6814-8AF4-0AE54B0366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">
            <a:extLst>
              <a:ext uri="{FF2B5EF4-FFF2-40B4-BE49-F238E27FC236}">
                <a16:creationId xmlns:a16="http://schemas.microsoft.com/office/drawing/2014/main" id="{2A145802-2DD3-EEBA-7D44-210C05B98C91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 dirty="0" err="1">
                <a:sym typeface="Times New Roman"/>
              </a:rPr>
              <a:t>LangFlow Workflow</a:t>
            </a:r>
            <a:r>
              <a:rPr lang="en-US" sz="3500" b="1" i="0" u="none" strike="noStrike" cap="none" dirty="0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Upload or query input</a:t>
            </a:r>
            <a:r>
              <a:rPr lang="en-US" sz="2400" b="1" dirty="0">
                <a:sym typeface="Times New Roman"/>
              </a:rPr>
              <a:t>Detection model node</a:t>
            </a:r>
            <a:endParaRPr sz="2400" b="1" dirty="0">
              <a:sym typeface="Times New Roman"/>
            </a:endParaRPr>
          </a:p>
        </p:txBody>
      </p:sp>
      <p:sp>
        <p:nvSpPr>
          <p:cNvPr id="148" name="Google Shape;148;p5">
            <a:extLst>
              <a:ext uri="{FF2B5EF4-FFF2-40B4-BE49-F238E27FC236}">
                <a16:creationId xmlns:a16="http://schemas.microsoft.com/office/drawing/2014/main" id="{69E3EADC-1EAD-7419-145C-20998925206E}"/>
              </a:ext>
            </a:extLst>
          </p:cNvPr>
          <p:cNvSpPr/>
          <p:nvPr/>
        </p:nvSpPr>
        <p:spPr>
          <a:xfrm>
            <a:off x="2264331" y="6784578"/>
            <a:ext cx="2140744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9" name="Google Shape;149;p5">
            <a:extLst>
              <a:ext uri="{FF2B5EF4-FFF2-40B4-BE49-F238E27FC236}">
                <a16:creationId xmlns:a16="http://schemas.microsoft.com/office/drawing/2014/main" id="{04E5872A-C331-C8F3-5D71-8E953BAAFE03}"/>
              </a:ext>
            </a:extLst>
          </p:cNvPr>
          <p:cNvSpPr/>
          <p:nvPr/>
        </p:nvSpPr>
        <p:spPr>
          <a:xfrm>
            <a:off x="1782604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0" name="Google Shape;150;p5">
            <a:extLst>
              <a:ext uri="{FF2B5EF4-FFF2-40B4-BE49-F238E27FC236}">
                <a16:creationId xmlns:a16="http://schemas.microsoft.com/office/drawing/2014/main" id="{76EF3801-5D99-5EFA-9AA2-AD265775E354}"/>
              </a:ext>
            </a:extLst>
          </p:cNvPr>
          <p:cNvSpPr/>
          <p:nvPr/>
        </p:nvSpPr>
        <p:spPr>
          <a:xfrm>
            <a:off x="5732383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1" name="Google Shape;151;p5">
            <a:extLst>
              <a:ext uri="{FF2B5EF4-FFF2-40B4-BE49-F238E27FC236}">
                <a16:creationId xmlns:a16="http://schemas.microsoft.com/office/drawing/2014/main" id="{DAD76A8A-9F2C-9EA9-25E9-40CD0FFAA869}"/>
              </a:ext>
            </a:extLst>
          </p:cNvPr>
          <p:cNvSpPr/>
          <p:nvPr/>
        </p:nvSpPr>
        <p:spPr>
          <a:xfrm>
            <a:off x="5077301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2" name="Google Shape;152;p5">
            <a:extLst>
              <a:ext uri="{FF2B5EF4-FFF2-40B4-BE49-F238E27FC236}">
                <a16:creationId xmlns:a16="http://schemas.microsoft.com/office/drawing/2014/main" id="{8D9C4260-2673-337C-C898-4C22E0F8FD65}"/>
              </a:ext>
            </a:extLst>
          </p:cNvPr>
          <p:cNvSpPr/>
          <p:nvPr/>
        </p:nvSpPr>
        <p:spPr>
          <a:xfrm>
            <a:off x="9027081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3" name="Google Shape;153;p5">
            <a:extLst>
              <a:ext uri="{FF2B5EF4-FFF2-40B4-BE49-F238E27FC236}">
                <a16:creationId xmlns:a16="http://schemas.microsoft.com/office/drawing/2014/main" id="{6167C3C6-3747-E373-84C3-3927C443B067}"/>
              </a:ext>
            </a:extLst>
          </p:cNvPr>
          <p:cNvSpPr/>
          <p:nvPr/>
        </p:nvSpPr>
        <p:spPr>
          <a:xfrm>
            <a:off x="8371999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BB86949-7ED1-C43B-B1E3-5122BB67A596}"/>
              </a:ext>
            </a:extLst>
          </p:cNvPr>
          <p:cNvSpPr txBox="1"/>
          <p:nvPr/>
        </p:nvSpPr>
        <p:spPr>
          <a:xfrm>
            <a:off x="474822" y="863187"/>
            <a:ext cx="882396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r>
              <a:rPr lang="en-US" b="1" dirty="0"/>
              <a:t>Granite explanation node</a:t>
            </a:r>
            <a:r>
              <a:rPr lang="en-US" dirty="0"/>
              <a:t>Response formatting node</a:t>
            </a:r>
          </a:p>
          <a:p>
            <a:endParaRPr lang="en-US" dirty="0"/>
          </a:p>
          <a:p>
            <a:r>
              <a:rPr lang="en-US" b="1" dirty="0"/>
              <a:t/>
            </a:r>
            <a:r>
              <a:rPr lang="en-US" b="1" dirty="0" err="1"/>
              <a:t/>
            </a:r>
            <a:r>
              <a:rPr lang="en-US" b="1" dirty="0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b="1" dirty="0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b="1" dirty="0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b="1" dirty="0"/>
              <a:t/>
            </a:r>
            <a:r>
              <a:rPr lang="en-US" b="1" dirty="0">
                <a:highlight>
                  <a:srgbClr val="FFFF00"/>
                </a:highlight>
              </a:rPr>
              <a:t/>
            </a:r>
            <a:r>
              <a:rPr lang="en-US" dirty="0">
                <a:highlight>
                  <a:srgbClr val="FFFF00"/>
                </a:highlight>
              </a:rPr>
              <a:t/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/>
            </a:r>
            <a:r>
              <a:rPr lang="en-US" dirty="0">
                <a:highlight>
                  <a:srgbClr val="FFFF00"/>
                </a:highlight>
              </a:rPr>
              <a:t/>
            </a:r>
          </a:p>
          <a:p>
            <a:pPr marL="342900" indent="-342900">
              <a:buAutoNum type="arabicParenR" startAt="3"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/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85263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CA6090C0-0478-84F9-6D20-717B6FEB73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1BF3590-52D3-DC9D-2C84-E66D9597D7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439" y="1066220"/>
            <a:ext cx="11469656" cy="5544892"/>
          </a:xfrm>
          <a:prstGeom prst="rect">
            <a:avLst/>
          </a:prstGeom>
        </p:spPr>
      </p:pic>
      <p:sp>
        <p:nvSpPr>
          <p:cNvPr id="2" name="Google Shape;135;p5">
            <a:extLst>
              <a:ext uri="{FF2B5EF4-FFF2-40B4-BE49-F238E27FC236}">
                <a16:creationId xmlns:a16="http://schemas.microsoft.com/office/drawing/2014/main" id="{B64CF172-D2AF-03D8-F919-AA7827A0D969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 dirty="0" err="1">
                <a:sym typeface="Times New Roman"/>
              </a:rPr>
              <a:t>Architecture</a:t>
            </a:r>
            <a:r>
              <a:rPr lang="en-US" sz="3500" b="1" i="0" u="none" strike="noStrike" cap="none" dirty="0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Dataset ingestion</a:t>
            </a:r>
            <a:r>
              <a:rPr lang="en-US" sz="2400" b="1" dirty="0">
                <a:sym typeface="Times New Roman"/>
              </a:rPr>
              <a:t>Preprocessing and feature engineering</a:t>
            </a:r>
            <a:endParaRPr sz="2400" b="1" dirty="0"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7725019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Google Shape;178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152" y="1071448"/>
            <a:ext cx="10429095" cy="561281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35;p5">
            <a:extLst>
              <a:ext uri="{FF2B5EF4-FFF2-40B4-BE49-F238E27FC236}">
                <a16:creationId xmlns:a16="http://schemas.microsoft.com/office/drawing/2014/main" id="{78578745-3233-E2C4-2AF4-55BA57C68D3F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/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Agentic AI Role</a:t>
            </a:r>
            <a:endParaRPr lang="en-US" sz="2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Google Shape;196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71985" y="1167493"/>
            <a:ext cx="3015343" cy="452301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84A7B44-8B20-5A39-ED43-DA98D0FC7976}"/>
              </a:ext>
            </a:extLst>
          </p:cNvPr>
          <p:cNvSpPr txBox="1"/>
          <p:nvPr/>
        </p:nvSpPr>
        <p:spPr>
          <a:xfrm>
            <a:off x="475488" y="283464"/>
            <a:ext cx="93177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Technology Used</a:t>
            </a:r>
            <a:endParaRPr lang="en-IN" sz="32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22462E8-EB3A-DA7D-44CB-4E757803A755}"/>
              </a:ext>
            </a:extLst>
          </p:cNvPr>
          <p:cNvSpPr txBox="1"/>
          <p:nvPr/>
        </p:nvSpPr>
        <p:spPr>
          <a:xfrm>
            <a:off x="621792" y="1167493"/>
            <a:ext cx="740664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sklearn pipelines</a:t>
            </a:r>
          </a:p>
          <a:p>
            <a:r>
              <a:rPr lang="en-US" b="1" dirty="0"/>
              <a:t>Random Forest</a:t>
            </a:r>
            <a:r>
              <a:rPr lang="en-US" dirty="0"/>
              <a:t>Gradient Boosting</a:t>
            </a:r>
            <a:r>
              <a:rPr lang="en-US" b="1" dirty="0"/>
              <a:t>Logistic Regression</a:t>
            </a:r>
            <a:r>
              <a:rPr lang="en-US" dirty="0"/>
              <a:t>Visualization toolkit</a:t>
            </a:r>
            <a:r>
              <a:rPr lang="en-US" b="1" dirty="0"/>
              <a:t/>
            </a:r>
            <a:r>
              <a:rPr lang="en-US" dirty="0"/>
              <a:t/>
            </a:r>
          </a:p>
          <a:p>
            <a:r>
              <a:rPr lang="en-US" dirty="0"/>
              <a:t/>
            </a:r>
            <a:r>
              <a:rPr lang="en-US" b="1" dirty="0"/>
              <a:t/>
            </a:r>
            <a:r>
              <a:rPr lang="en-US" dirty="0"/>
              <a:t/>
            </a:r>
          </a:p>
          <a:p>
            <a:r>
              <a:rPr lang="en-US" dirty="0"/>
              <a:t/>
            </a:r>
            <a:r>
              <a:rPr lang="en-US" b="1" dirty="0"/>
              <a:t/>
            </a:r>
            <a:r>
              <a:rPr lang="en-US" dirty="0"/>
              <a:t/>
            </a:r>
            <a:r>
              <a:rPr lang="en-US" b="1" dirty="0"/>
              <a:t/>
            </a:r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  <a:r>
              <a:rPr lang="en-US" b="1" dirty="0"/>
              <a:t/>
            </a:r>
            <a:r>
              <a:rPr lang="en-US" dirty="0"/>
              <a:t/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>
          <a:extLst>
            <a:ext uri="{FF2B5EF4-FFF2-40B4-BE49-F238E27FC236}">
              <a16:creationId xmlns:a16="http://schemas.microsoft.com/office/drawing/2014/main" id="{7C2A09DE-0AE2-AA94-B2C1-84FDBDB9DC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51FBD4A-3273-E454-091D-D5B0678FC299}"/>
              </a:ext>
            </a:extLst>
          </p:cNvPr>
          <p:cNvSpPr txBox="1"/>
          <p:nvPr/>
        </p:nvSpPr>
        <p:spPr>
          <a:xfrm>
            <a:off x="777240" y="484632"/>
            <a:ext cx="7123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Novelty and Uniqueness</a:t>
            </a:r>
            <a:endParaRPr lang="en-IN" sz="24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A7608B5-9906-EFCF-959A-E89FC2E3EE19}"/>
              </a:ext>
            </a:extLst>
          </p:cNvPr>
          <p:cNvSpPr txBox="1"/>
          <p:nvPr/>
        </p:nvSpPr>
        <p:spPr>
          <a:xfrm>
            <a:off x="777240" y="1207008"/>
            <a:ext cx="10515600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 err="1"/>
              <a:t>Cybersecurity-first positioning</a:t>
            </a:r>
            <a:r>
              <a:rPr lang="en-US" sz="1800" b="1" dirty="0"/>
              <a:t>Clean modular codebase</a:t>
            </a:r>
            <a:r>
              <a:rPr lang="en-US" sz="1800" dirty="0"/>
              <a:t>Handles unlabeled test set safely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/>
              <a:t>IBM-ready narrative alignment</a:t>
            </a:r>
            <a:r>
              <a:rPr lang="en-US" sz="1800" b="1" dirty="0" err="1"/>
              <a:t/>
            </a:r>
            <a:r>
              <a:rPr lang="en-US" sz="1800" b="1" dirty="0"/>
              <a:t/>
            </a:r>
            <a:r>
              <a:rPr lang="en-US" sz="1800" dirty="0"/>
              <a:t/>
            </a:r>
            <a:r>
              <a:rPr lang="en-US" sz="1800" dirty="0" err="1"/>
              <a:t/>
            </a:r>
            <a:r>
              <a:rPr lang="en-US" sz="1800" dirty="0"/>
              <a:t/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/>
              <a:t/>
            </a:r>
            <a:r>
              <a:rPr lang="en-US" sz="1800" dirty="0"/>
              <a:t/>
            </a:r>
            <a:r>
              <a:rPr lang="en-US" sz="1800" b="1" dirty="0"/>
              <a:t/>
            </a:r>
            <a:r>
              <a:rPr lang="en-US" sz="1800" dirty="0"/>
              <a:t/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/>
              <a:t/>
            </a:r>
            <a:r>
              <a:rPr lang="en-US" sz="1800" dirty="0"/>
              <a:t/>
            </a:r>
            <a:r>
              <a:rPr lang="en-US" sz="1800" b="1" dirty="0"/>
              <a:t/>
            </a:r>
            <a:r>
              <a:rPr lang="en-US" sz="1800" dirty="0"/>
              <a:t/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/>
              <a:t/>
            </a:r>
            <a:r>
              <a:rPr lang="en-US" sz="1800" dirty="0"/>
              <a:t/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b="1" dirty="0"/>
              <a:t/>
            </a:r>
            <a:r>
              <a:rPr lang="en-IN" sz="1800" dirty="0"/>
              <a:t/>
            </a: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644058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>
          <a:extLst>
            <a:ext uri="{FF2B5EF4-FFF2-40B4-BE49-F238E27FC236}">
              <a16:creationId xmlns:a16="http://schemas.microsoft.com/office/drawing/2014/main" id="{EEDEC80F-FA4E-F3FF-DE90-87B861D0BD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FA184BA-BCF2-3D7B-30D0-0F3CF30C161B}"/>
              </a:ext>
            </a:extLst>
          </p:cNvPr>
          <p:cNvSpPr txBox="1"/>
          <p:nvPr/>
        </p:nvSpPr>
        <p:spPr>
          <a:xfrm>
            <a:off x="777240" y="484632"/>
            <a:ext cx="7123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Results</a:t>
            </a:r>
            <a:endParaRPr lang="en-IN" sz="24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D65F54F-855A-0DB6-09A6-3212C5F7405B}"/>
              </a:ext>
            </a:extLst>
          </p:cNvPr>
          <p:cNvSpPr txBox="1"/>
          <p:nvPr/>
        </p:nvSpPr>
        <p:spPr>
          <a:xfrm>
            <a:off x="777240" y="1207008"/>
            <a:ext cx="11301984" cy="5293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dirty="0"/>
              <a:t>Validation accuracy</a:t>
            </a:r>
            <a:r>
              <a:rPr lang="en-IN" sz="1800" b="1" dirty="0"/>
              <a:t>Precision, recall, F1</a:t>
            </a:r>
            <a:r>
              <a:rPr lang="en-IN" sz="1800" dirty="0"/>
              <a:t>ROC-AUC</a:t>
            </a:r>
          </a:p>
          <a:p>
            <a:endParaRPr lang="en-IN" sz="1800" dirty="0"/>
          </a:p>
          <a:p>
            <a:r>
              <a:rPr lang="en-IN" sz="1800" b="1" dirty="0"/>
              <a:t>Confusion matrix</a:t>
            </a:r>
            <a:r>
              <a:rPr lang="en-IN" sz="1800" dirty="0"/>
              <a:t/>
            </a:r>
          </a:p>
          <a:p>
            <a:r>
              <a:rPr lang="en-IN" sz="1800" b="1" dirty="0"/>
              <a:t/>
            </a:r>
            <a:r>
              <a:rPr lang="en-IN" sz="1800" dirty="0"/>
              <a:t/>
            </a:r>
          </a:p>
          <a:p>
            <a:r>
              <a:rPr lang="en-IN" sz="1800" b="1" dirty="0"/>
              <a:t/>
            </a:r>
            <a:r>
              <a:rPr lang="en-IN" sz="1800" dirty="0"/>
              <a:t/>
            </a:r>
          </a:p>
          <a:p>
            <a:r>
              <a:rPr lang="en-IN" sz="1800" b="1" dirty="0"/>
              <a:t/>
            </a:r>
            <a:r>
              <a:rPr lang="en-IN" sz="1800" dirty="0"/>
              <a:t/>
            </a:r>
            <a:r>
              <a:rPr lang="en-IN" sz="1800" dirty="0" err="1"/>
              <a:t/>
            </a:r>
            <a:r>
              <a:rPr lang="en-IN" sz="1800" dirty="0"/>
              <a:t/>
            </a:r>
          </a:p>
          <a:p>
            <a:r>
              <a:rPr lang="en-IN" sz="1800" b="1" dirty="0"/>
              <a:t/>
            </a:r>
            <a:r>
              <a:rPr lang="en-IN" sz="1800" dirty="0"/>
              <a:t/>
            </a:r>
          </a:p>
          <a:p>
            <a:r>
              <a:rPr lang="en-IN" sz="1800" b="1" dirty="0"/>
              <a:t/>
            </a:r>
            <a:r>
              <a:rPr lang="en-IN" sz="1800" dirty="0"/>
              <a:t/>
            </a:r>
          </a:p>
          <a:p>
            <a:r>
              <a:rPr lang="en-IN" sz="1800" b="1" dirty="0"/>
              <a:t/>
            </a:r>
            <a:r>
              <a:rPr lang="en-IN" sz="1800" dirty="0"/>
              <a:t/>
            </a:r>
            <a:r>
              <a:rPr lang="en-IN" sz="1800" b="1" dirty="0"/>
              <a:t/>
            </a:r>
            <a:r>
              <a:rPr lang="en-IN" sz="1800" dirty="0"/>
              <a:t/>
            </a:r>
            <a:r>
              <a:rPr lang="en-IN" sz="1800" b="1" dirty="0"/>
              <a:t/>
            </a:r>
            <a:r>
              <a:rPr lang="en-IN" sz="1800" dirty="0"/>
              <a:t/>
            </a:r>
          </a:p>
          <a:p>
            <a:endParaRPr lang="en-IN" sz="1800" dirty="0"/>
          </a:p>
          <a:p>
            <a:r>
              <a:rPr lang="en-IN" sz="1800" dirty="0"/>
              <a:t/>
            </a:r>
            <a:r>
              <a:rPr lang="en-IN" sz="1800" b="1" dirty="0"/>
              <a:t/>
            </a:r>
            <a:r>
              <a:rPr lang="en-IN" sz="1800" dirty="0"/>
              <a:t/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179641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55016524-E738-3D8C-3BB2-B0BE7C6653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D62F03A8-A8A8-CB93-006E-7173DC866F6F}"/>
              </a:ext>
            </a:extLst>
          </p:cNvPr>
          <p:cNvSpPr/>
          <p:nvPr/>
        </p:nvSpPr>
        <p:spPr>
          <a:xfrm>
            <a:off x="1218724" y="420729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 dirty="0">
                <a:sym typeface="Times New Roman"/>
              </a:rPr>
              <a:t>GitHub Repository</a:t>
            </a:r>
            <a:endParaRPr sz="2400" b="1" dirty="0">
              <a:sym typeface="Times New Roman"/>
            </a:endParaRPr>
          </a:p>
        </p:txBody>
      </p:sp>
      <p:sp>
        <p:nvSpPr>
          <p:cNvPr id="279" name="Google Shape;279;p18">
            <a:extLst>
              <a:ext uri="{FF2B5EF4-FFF2-40B4-BE49-F238E27FC236}">
                <a16:creationId xmlns:a16="http://schemas.microsoft.com/office/drawing/2014/main" id="{15507A2F-9304-7475-5C74-2BAA93879CFE}"/>
              </a:ext>
            </a:extLst>
          </p:cNvPr>
          <p:cNvSpPr/>
          <p:nvPr/>
        </p:nvSpPr>
        <p:spPr>
          <a:xfrm>
            <a:off x="1218724" y="1153712"/>
            <a:ext cx="9214580" cy="427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Public repository link</a:t>
            </a:r>
            <a:r>
              <a:rPr lang="en-US" sz="1850" b="0" i="0" u="none" strike="noStrike" cap="none" dirty="0" err="1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README</a:t>
            </a: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PPTX</a:t>
            </a:r>
          </a:p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Source code</a:t>
            </a:r>
            <a:r>
              <a:rPr lang="en-US" sz="1850" dirty="0" err="1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Reports</a:t>
            </a:r>
            <a:r>
              <a:rPr lang="en-US" sz="1850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/>
            </a:r>
          </a:p>
          <a:p>
            <a:pPr lvl="0">
              <a:lnSpc>
                <a:spcPct val="162162"/>
              </a:lnSpc>
              <a:buClr>
                <a:srgbClr val="2B3541"/>
              </a:buClr>
              <a:buSzPts val="1850"/>
            </a:pPr>
            <a:r>
              <a:rPr lang="en-US" sz="1850" b="1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/>
            </a:r>
            <a:r>
              <a:rPr lang="en-US" sz="1850" b="1" dirty="0" err="1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/>
            </a:r>
            <a:r>
              <a:rPr lang="en-US" sz="1850" b="1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/>
            </a:r>
            <a:br>
              <a:rPr lang="en-US" sz="1850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850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/>
            </a:r>
            <a:r>
              <a:rPr lang="en-US" sz="1850" dirty="0" err="1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/>
            </a:r>
            <a:r>
              <a:rPr lang="en-US" sz="1850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/>
            </a:r>
          </a:p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A4423EF4-BB52-2693-03DD-9F7D92D05218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/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FF042814-8077-DBD5-E8B6-E0D870CADB86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/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6A2761AF-8A54-98F2-52C2-794D9BA61C92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/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154848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6FA0F82B-7EE5-EAB0-F470-130BDAC82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0668C6FD-577A-7288-5642-1AFC22BD04F2}"/>
              </a:ext>
            </a:extLst>
          </p:cNvPr>
          <p:cNvSpPr/>
          <p:nvPr/>
        </p:nvSpPr>
        <p:spPr>
          <a:xfrm>
            <a:off x="1218724" y="420729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 dirty="0">
                <a:sym typeface="Times New Roman"/>
              </a:rPr>
              <a:t>Future Scope</a:t>
            </a:r>
            <a:endParaRPr sz="2400" b="1" dirty="0">
              <a:sym typeface="Times New Roman"/>
            </a:endParaRPr>
          </a:p>
        </p:txBody>
      </p:sp>
      <p:sp>
        <p:nvSpPr>
          <p:cNvPr id="279" name="Google Shape;279;p18">
            <a:extLst>
              <a:ext uri="{FF2B5EF4-FFF2-40B4-BE49-F238E27FC236}">
                <a16:creationId xmlns:a16="http://schemas.microsoft.com/office/drawing/2014/main" id="{EAFA16CB-0A72-5AC5-69A0-ABF4A752B43F}"/>
              </a:ext>
            </a:extLst>
          </p:cNvPr>
          <p:cNvSpPr/>
          <p:nvPr/>
        </p:nvSpPr>
        <p:spPr>
          <a:xfrm>
            <a:off x="1218724" y="1221715"/>
            <a:ext cx="9214580" cy="427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1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Real-time packet streaming</a:t>
            </a:r>
          </a:p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SOC integration</a:t>
            </a:r>
          </a:p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1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Explainability views</a:t>
            </a:r>
            <a:r>
              <a:rPr lang="en-US" sz="1850" b="1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Multiclass attack detection</a:t>
            </a: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/>
            </a:r>
          </a:p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/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B888011B-E4AC-77DB-4A60-BE2C891C49F5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/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91F05971-9256-10B5-6575-4E7C679C6DAA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/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F1C3EBC2-438F-C150-9ABF-F14321C2CC5C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/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367067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0" name="Google Shape;310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2190302"/>
            <a:ext cx="12192000" cy="24773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1158</TotalTime>
  <Words>1423</Words>
  <Application>Microsoft Office PowerPoint</Application>
  <PresentationFormat>Widescreen</PresentationFormat>
  <Paragraphs>125</Paragraphs>
  <Slides>14</Slides>
  <Notes>13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IBM University Engagement Project Submission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Manda Anirudh</dc:creator>
  <cp:lastModifiedBy>Yogesh Raje</cp:lastModifiedBy>
  <cp:revision>21</cp:revision>
  <dcterms:created xsi:type="dcterms:W3CDTF">2025-07-08T05:06:56Z</dcterms:created>
  <dcterms:modified xsi:type="dcterms:W3CDTF">2026-04-14T04:53:39Z</dcterms:modified>
</cp:coreProperties>
</file>